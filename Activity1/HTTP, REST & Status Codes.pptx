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JetBrains Mono"/>
      <ns0:bold ns1:id="rIdFont21"/>
      <ns0:regular ns1:id="rIdFont22"/>
    </ns0:embeddedFont>
    <ns0:embeddedFont>
      <ns0:font typeface="Plus Jakarta Sans"/>
      <ns0:bold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2e2c674c-a314-4129-ab21-1cf0d91872d6.fntdata" /><ns0:Relationship Id="rIdFont22" Type="http://schemas.openxmlformats.org/officeDocument/2006/relationships/font" Target="fonts/b8fd7f57-b22d-4eb4-b5d8-8d9f711a9842.fntdata" /><ns0:Relationship Id="rIdFont23" Type="http://schemas.openxmlformats.org/officeDocument/2006/relationships/font" Target="fonts/fc8e55ff-2a9f-49c8-8217-c79ccac96640.fntdata" /><ns0:Relationship Id="rIdFont24" Type="http://schemas.openxmlformats.org/officeDocument/2006/relationships/font" Target="fonts/6cd5376c-0180-4fcb-ad13-d96c31a565a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466183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353567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A REAL-WORLD LOGISTICS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715517"/>
            <a:ext cx="10626328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HTTP, REST &amp; Status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13683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The delivery truck, the warehouse shipping rules, and the final tracking receipt.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9051"/>
            <a:ext cx="3479750" cy="2041921"/>
          </a:xfrm>
          <a:prstGeom prst="roundRect">
            <a:avLst>
              <a:gd name="adj" fmla="val 74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889051"/>
            <a:ext cx="3479750" cy="2041921"/>
          </a:xfrm>
          <a:prstGeom prst="roundRect">
            <a:avLst>
              <a:gd name="adj" fmla="val 74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889051"/>
            <a:ext cx="3479750" cy="2041921"/>
          </a:xfrm>
          <a:prstGeom prst="roundRect">
            <a:avLst>
              <a:gd name="adj" fmla="val 74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231951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800" y="3231951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250" y="3231951"/>
            <a:ext cx="2286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Three Pillars of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3727251"/>
            <a:ext cx="381707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HTTP: The Vehicle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4108251"/>
            <a:ext cx="30035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Moves packages along physical highways.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1800" y="3727251"/>
            <a:ext cx="381707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REST: The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1800" y="4108251"/>
            <a:ext cx="30035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Standardized addresses and barcodes.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8250" y="3727251"/>
            <a:ext cx="380374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Status: The Receipt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250" y="4108251"/>
            <a:ext cx="363531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Instant 3-digit tracking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447329"/>
            <a:ext cx="5257800" cy="2925365"/>
          </a:xfrm>
          <a:prstGeom prst="roundRect">
            <a:avLst>
              <a:gd name="adj" fmla="val 52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00262"/>
            <a:ext cx="52578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00262"/>
            <a:ext cx="52578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SPEAKER 1 · TRANSPORT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HTTP: The Truck &amp;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790229"/>
            <a:ext cx="5524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Highway Courier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3247429"/>
            <a:ext cx="46672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Physical Highway: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Bridges client doorstep and central warehouse.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3898701"/>
            <a:ext cx="46672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Action Verbs: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Driver obeys standard dispatch instructions.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4549973"/>
            <a:ext cx="46672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Cargo Payload: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Holds order requests inside the truck bed.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99382"/>
            <a:ext cx="5334000" cy="3383160"/>
          </a:xfrm>
          <a:prstGeom prst="roundRect">
            <a:avLst>
              <a:gd name="adj" fmla="val 45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199382"/>
            <a:ext cx="5334000" cy="3383160"/>
          </a:xfrm>
          <a:prstGeom prst="roundRect">
            <a:avLst>
              <a:gd name="adj" fmla="val 45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2208907"/>
            <a:ext cx="5314950" cy="2000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5" y="2208907"/>
            <a:ext cx="5314950" cy="2000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208907"/>
            <a:ext cx="5314950" cy="2000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2208907"/>
            <a:ext cx="5314950" cy="2000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SPEAKER 1 · CRUD IN LOGISTICS (PART 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Read &amp; Create: GET &amp;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437757"/>
            <a:ext cx="4953000" cy="906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GET ·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4437757"/>
            <a:ext cx="4953000" cy="906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6A34A"/>
                </a:solidFill>
                <a:latin typeface="Plus Jakarta Sans"/>
              </a:rPr>
              <a:t>POST · 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790182"/>
            <a:ext cx="63757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View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5104507"/>
            <a:ext cx="60721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Inspect catalog through driver window.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790182"/>
            <a:ext cx="5705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Add to 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5104507"/>
            <a:ext cx="57054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Drop new order package into truck bed.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65027"/>
            <a:ext cx="3505200" cy="3051720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365027"/>
            <a:ext cx="3505200" cy="3051720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365027"/>
            <a:ext cx="3505200" cy="3051720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2374552"/>
            <a:ext cx="3486150" cy="1809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5" y="2374552"/>
            <a:ext cx="3486150" cy="1809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725" y="2374552"/>
            <a:ext cx="3486150" cy="1809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374552"/>
            <a:ext cx="3486150" cy="1809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925" y="2374552"/>
            <a:ext cx="3486150" cy="1809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6725" y="2374552"/>
            <a:ext cx="3486150" cy="1809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SPEAKER 1 · CRUD IN LOGISTICS (PART 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Update &amp; Delete: PUT, PATCH &amp; 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" y="4393852"/>
            <a:ext cx="3162300" cy="803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97706"/>
                </a:solidFill>
                <a:latin typeface="Plus Jakarta Sans"/>
              </a:rPr>
              <a:t>PUT · REPLACE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475" y="4393852"/>
            <a:ext cx="3162300" cy="803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PATCH · MODIFY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5" y="4393852"/>
            <a:ext cx="3162300" cy="803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C2626"/>
                </a:solidFill>
                <a:latin typeface="Plus Jakarta Sans"/>
              </a:rPr>
              <a:t>DELETE · REMOVE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4698652"/>
            <a:ext cx="402550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Complete Box Swap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4984402"/>
            <a:ext cx="3833812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Replace entire pallet at bay slot.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475" y="4698652"/>
            <a:ext cx="402550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Change Quantity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475" y="4984402"/>
            <a:ext cx="3833812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Paste revision sticker on box label.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5" y="4698652"/>
            <a:ext cx="389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Remove 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5" y="4984402"/>
            <a:ext cx="3833812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Discard scrap parcel from manifest.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47900"/>
            <a:ext cx="5514975" cy="3286125"/>
          </a:xfrm>
          <a:prstGeom prst="roundRect">
            <a:avLst>
              <a:gd name="adj" fmla="val 4637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9150" y="2457450"/>
            <a:ext cx="5095875" cy="2867025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05575" y="2576810"/>
            <a:ext cx="5076825" cy="2628304"/>
          </a:xfrm>
          <a:prstGeom prst="roundRect">
            <a:avLst>
              <a:gd name="adj" fmla="val 57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6800" y="3219450"/>
            <a:ext cx="4600575" cy="74295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800" y="4095750"/>
            <a:ext cx="4600575" cy="1019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76800" y="2681287"/>
            <a:ext cx="790575" cy="295275"/>
          </a:xfrm>
          <a:prstGeom prst="roundRect">
            <a:avLst>
              <a:gd name="adj" fmla="val 19354"/>
            </a:avLst>
          </a:prstGeom>
          <a:noFill/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6800" y="4095750"/>
            <a:ext cx="4600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87" y="3305175"/>
            <a:ext cx="2667000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SPEAKER 1 · WAREHOUSE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REST is Stateless: The Shipping Label 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2891135"/>
            <a:ext cx="53721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The Barcode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3000" y="2709862"/>
            <a:ext cx="7334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STATELESS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5562" y="3743325"/>
            <a:ext cx="192881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JetBrains Mono"/>
              </a:rPr>
              <a:t>* POST /api/cart 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3348335"/>
            <a:ext cx="53721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Driver Amnesia: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Couriers hold zero trip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3759696"/>
            <a:ext cx="45434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Self-Contained Parcel: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Label holds address, token, and payload.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4410967"/>
            <a:ext cx="45434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Any Driver Fulfills: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Every request stands alone completely.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2667000"/>
            <a:ext cx="2357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EXPRESS PARCEL WAYBILL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2857500"/>
            <a:ext cx="235743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TRACKING: REST-REQ-9842-TX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4200525"/>
            <a:ext cx="171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DESTINATION (URI):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2700" y="4200525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JetBrains Mono"/>
              </a:rPr>
              <a:t>/v1/warehouse/orders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" y="4448175"/>
            <a:ext cx="1428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INSTRUCTION: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24100" y="4448175"/>
            <a:ext cx="2381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JetBrains Mono"/>
              </a:rPr>
              <a:t>POST (Drop Off New Order)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" y="4695825"/>
            <a:ext cx="1428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JetBrains Mono"/>
              </a:rPr>
              <a:t>SECURITY KEY: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4695825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JetBrains Mono"/>
              </a:rPr>
              <a:t>Bearer eyJhbGciOi...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6800" y="4943475"/>
            <a:ext cx="1428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JetBrains Mono"/>
              </a:rPr>
              <a:t>PARCEL CARGO: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4943475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JetBrains Mono"/>
              </a:rPr>
              <a:t>{"item": "Running Shoes", "qty": 1}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9412"/>
            <a:ext cx="3454449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919412"/>
            <a:ext cx="3454449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919412"/>
            <a:ext cx="3454449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SPEAKER 1 · FLEET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Why Stateless Logistics Scales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75" y="3271837"/>
            <a:ext cx="3627499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284C7"/>
                </a:solidFill>
                <a:latin typeface="JetBrains Mono"/>
              </a:rPr>
              <a:t>0 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75" y="4110037"/>
            <a:ext cx="36274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475569"/>
                </a:solidFill>
                <a:latin typeface="Plus Jakarta Sans"/>
              </a:rPr>
              <a:t>Driver memory overhead per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2324" y="3271837"/>
            <a:ext cx="3627499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JetBrains Mono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2324" y="4110037"/>
            <a:ext cx="36274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475569"/>
                </a:solidFill>
                <a:latin typeface="Plus Jakarta Sans"/>
              </a:rPr>
              <a:t>Interchangeable drivers across fleet.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1574" y="3271837"/>
            <a:ext cx="3627499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16A34A"/>
                </a:solidFill>
                <a:latin typeface="JetBrains Mono"/>
              </a:rP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1574" y="4110037"/>
            <a:ext cx="36274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475569"/>
                </a:solidFill>
                <a:latin typeface="Plus Jakarta Sans"/>
              </a:rPr>
              <a:t>Downtime during route breakdowns.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677715"/>
            <a:ext cx="5257800" cy="2464593"/>
          </a:xfrm>
          <a:prstGeom prst="roundRect">
            <a:avLst>
              <a:gd name="adj" fmla="val 61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00262"/>
            <a:ext cx="52578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00262"/>
            <a:ext cx="52578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SPEAKER 2 · TRANSPORT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HTTP vs. HTTPS: Flatbed vs. Armored Truck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3030140"/>
            <a:ext cx="55149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Highway Threat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487340"/>
            <a:ext cx="55149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HTTP (Flatbed):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Plaintext visible to roadside onlookers.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3898701"/>
            <a:ext cx="55149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HTTPS (Armored):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Encrypted dual-key digital vault 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4310062"/>
            <a:ext cx="46482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Tamper-Proof: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Only warehouse destination possesses key.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39072" y="2205037"/>
            <a:ext cx="6143327" cy="7429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39072" y="3081337"/>
            <a:ext cx="6143327" cy="7429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39072" y="3957637"/>
            <a:ext cx="6143327" cy="7429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39072" y="4833937"/>
            <a:ext cx="6143327" cy="7429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1212"/>
            <a:ext cx="4448472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81212"/>
            <a:ext cx="4448472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SPEAKER 2 · OUTCOME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Handheld Scanner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9097" y="2438400"/>
            <a:ext cx="952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6A34A"/>
                </a:solidFill>
                <a:latin typeface="JetBrains Mono"/>
              </a:rPr>
              <a:t>2xx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9097" y="3314700"/>
            <a:ext cx="952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JetBrains Mono"/>
              </a:rPr>
              <a:t>3xx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9097" y="4191000"/>
            <a:ext cx="952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A580C"/>
                </a:solidFill>
                <a:latin typeface="JetBrains Mono"/>
              </a:rPr>
              <a:t>4xx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9097" y="5067300"/>
            <a:ext cx="952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DC2626"/>
                </a:solidFill>
                <a:latin typeface="JetBrains Mono"/>
              </a:rPr>
              <a:t>5xx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8247" y="2366962"/>
            <a:ext cx="36004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8247" y="2586037"/>
            <a:ext cx="3429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Handed over and signed successfully.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8247" y="3243262"/>
            <a:ext cx="32629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Rerouted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8247" y="3462337"/>
            <a:ext cx="3107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Forwarded to new regional facility.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8247" y="4119562"/>
            <a:ext cx="36504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Shipper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8247" y="4338637"/>
            <a:ext cx="3476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Invalid address or missing delivery PIN.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8247" y="4995862"/>
            <a:ext cx="36504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Depot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8247" y="5214937"/>
            <a:ext cx="3476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Sorting machinery internal breakdown.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89857"/>
            <a:ext cx="5334000" cy="3402210"/>
          </a:xfrm>
          <a:prstGeom prst="roundRect">
            <a:avLst>
              <a:gd name="adj" fmla="val 44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189857"/>
            <a:ext cx="5334000" cy="3402210"/>
          </a:xfrm>
          <a:prstGeom prst="roundRect">
            <a:avLst>
              <a:gd name="adj" fmla="val 44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2199382"/>
            <a:ext cx="5314950" cy="2000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5" y="2199382"/>
            <a:ext cx="5314950" cy="2000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99382"/>
            <a:ext cx="5314950" cy="2000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2199382"/>
            <a:ext cx="5314950" cy="2000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SPEAKER 2 · DELIVERY SCENARIOS (PART 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Registration &amp; 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428232"/>
            <a:ext cx="4953000" cy="925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Plus Jakarta Sans"/>
              </a:rPr>
              <a:t>201 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4428232"/>
            <a:ext cx="4953000" cy="925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A580C"/>
                </a:solidFill>
                <a:latin typeface="Plus Jakarta Sans"/>
              </a:rPr>
              <a:t>401 Unauthorized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799707"/>
            <a:ext cx="63757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Account 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5114032"/>
            <a:ext cx="60721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New parcel registered in warehouse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799707"/>
            <a:ext cx="5705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Wrong 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5114032"/>
            <a:ext cx="57054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Door delivery PIN verification failed.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89857"/>
            <a:ext cx="5334000" cy="3402210"/>
          </a:xfrm>
          <a:prstGeom prst="roundRect">
            <a:avLst>
              <a:gd name="adj" fmla="val 44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189857"/>
            <a:ext cx="5334000" cy="3402210"/>
          </a:xfrm>
          <a:prstGeom prst="roundRect">
            <a:avLst>
              <a:gd name="adj" fmla="val 44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2199382"/>
            <a:ext cx="5314950" cy="2000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5" y="2199382"/>
            <a:ext cx="5314950" cy="2000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99382"/>
            <a:ext cx="5314950" cy="2000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2199382"/>
            <a:ext cx="5314950" cy="2000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SPEAKER 2 · DELIVERY SCENARIOS (PART 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Missing Items &amp; Facility Crashes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428232"/>
            <a:ext cx="4953000" cy="925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A580C"/>
                </a:solidFill>
                <a:latin typeface="Plus Jakarta Sans"/>
              </a:rPr>
              <a:t>404 Not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4428232"/>
            <a:ext cx="4953000" cy="925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lus Jakarta Sans"/>
              </a:rPr>
              <a:t>500 Server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799707"/>
            <a:ext cx="63757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Product Not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5114032"/>
            <a:ext cx="60721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Requested barcode absent from depot shelves.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799707"/>
            <a:ext cx="5705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Server Crash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5114032"/>
            <a:ext cx="57054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Sorting facility conveyor belt breakdown.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91200" y="466531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20828" y="2154584"/>
            <a:ext cx="2750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JetBrains Mono"/>
              </a:rPr>
              <a:t>ARCHITECTURE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89286" y="2478434"/>
            <a:ext cx="7413426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8FAFC"/>
                </a:solidFill>
                <a:latin typeface="Plus Jakarta Sans"/>
              </a:rPr>
              <a:t>The Truck Moves Cargo.</a:t>
            </a:r>
            <a:r>
              <a:t>
</a:t>
            </a:r>
            <a:r>
              <a:rPr b="1" sz="3300" i="0" u="none">
                <a:solidFill>
                  <a:srgbClr val="F8FAFC"/>
                </a:solidFill>
                <a:latin typeface="Plus Jakarta Sans"/>
              </a:rPr>
              <a:t> The Barcode Enables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5062" y="3712815"/>
            <a:ext cx="73818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HTTP carries the packages, REST standardizes the shipping labels, and status codes confirm final delivery.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00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171825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0195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781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781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43175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52800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2425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33950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1038225"/>
            <a:ext cx="7870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https://img.magnific.com/premium-vector/courier-brings-packages-with-van-illustration_338371-73.jpg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1238250"/>
            <a:ext cx="252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www.magnific.com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1809750"/>
            <a:ext cx="5536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https://www.movexwarehousing.com/assets/img/industry/industry-3.png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2009775"/>
            <a:ext cx="3488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www.movexwarehousing.com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2581275"/>
            <a:ext cx="6631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https://images.presentationgo.com/2025/05/ecommerce-shopping-cart-concept.jpg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2781300"/>
            <a:ext cx="3131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www.presentationgo.com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33147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https://ajeets.com/_next/image?url=https%3A%2F%2Fajeets.s3.ap-south-1.amazonaws.com%2Fseed_dbo.master_web_generator-industries%2F63779d3f-5e67-48cd-9110-0bfaf5a3114b-1745587009080.webp&amp;w=3840&amp;q=75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3667125"/>
            <a:ext cx="1774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ajeets.com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200525"/>
            <a:ext cx="1023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https://www.scopelink.com.au/wp-content/uploads/2026/04/What-Is-a-Barcode-System-and-How-Does-It-Work-in-a-Warehouse.jpg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875" y="4400550"/>
            <a:ext cx="2893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www.scopelink.com.au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6875" y="4972050"/>
            <a:ext cx="5405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https://omegaecycles.com/wp-content/uploads/2024/12/Contact.jpg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172075"/>
            <a:ext cx="2595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omegaecycles.com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704975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5527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3242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0957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543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543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314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314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0862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0862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857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857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8225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85950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95575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7100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38625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10150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https://static.wixstatic.com/media/8cc648_1d65c822426a4ba580137b121ff7b2ce~mv2.png/v1/fill/w_319,h_216,al_c,q_85,usm_0.66_1.00_0.01,enc_avif,quality_auto/0ff54a_7e91241e3771464d866507435f4c3a1b_.png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1352550"/>
            <a:ext cx="3964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www.texassecurityguardunion.com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18478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https://www.zebra.com/content/dam/zebra_dam/global/zcom-web-production/web-production-photography/web005/tandl-photography-website-post-courier-delivery-hero-16x9-3600x2025.jpg.imgo.jpg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2200275"/>
            <a:ext cx="2226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www.zebra.com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2733675"/>
            <a:ext cx="5238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https://source.cocosign.com/images/receipt/delivery/delivery_1.jpg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2933700"/>
            <a:ext cx="2071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cocosign.com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3505200"/>
            <a:ext cx="9001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https://butterflymx.com/wp-content/uploads/2025/10/commercial-keypad-access-control-system-1-700x466.webp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3705225"/>
            <a:ext cx="2274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butterflymx.com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2767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https://dmrqkbkq8el9i.cloudfront.net/Pictures/480xany/8/5/8/386858_coopavailabilityshortagesemptysupermarketshelves3_472512_crop.jpg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875" y="4476750"/>
            <a:ext cx="2714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www.thegrocer.co.uk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6875" y="5048250"/>
            <a:ext cx="8929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https://mechsol-ltd.co.uk/wp-content/uploads/2022/07/Production-line-breakdown-AdobeStock_247803272-2.jpg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248275"/>
            <a:ext cx="2440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mechsol-ltd.co.uk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